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1"/>
  </p:notesMasterIdLst>
  <p:handoutMasterIdLst>
    <p:handoutMasterId r:id="rId12"/>
  </p:handoutMasterIdLst>
  <p:sldIdLst>
    <p:sldId id="350" r:id="rId5"/>
    <p:sldId id="357" r:id="rId6"/>
    <p:sldId id="353" r:id="rId7"/>
    <p:sldId id="365" r:id="rId8"/>
    <p:sldId id="366" r:id="rId9"/>
    <p:sldId id="34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F6D6B-9C26-4CE2-968D-79EEA7056384}" v="15" dt="2023-10-22T21:21:30.255"/>
  </p1510:revLst>
</p1510:revInfo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 autoAdjust="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D13E5-4CEC-3A4A-8E5D-AFCEE7512EEC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10/22/2023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105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53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67054" y="758752"/>
            <a:ext cx="5491571" cy="287144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67055" y="4549553"/>
            <a:ext cx="5491570" cy="160618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142455"/>
            <a:ext cx="7532276" cy="13474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2046306"/>
            <a:ext cx="2133600" cy="537098"/>
          </a:xfr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2639004"/>
            <a:ext cx="2133600" cy="78999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63042" y="2046306"/>
            <a:ext cx="2128157" cy="537098"/>
          </a:xfr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63042" y="2639004"/>
            <a:ext cx="2128157" cy="78999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2500" y="4359309"/>
            <a:ext cx="2133600" cy="492558"/>
          </a:xfr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00" y="4925112"/>
            <a:ext cx="2133600" cy="78999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63042" y="4359309"/>
            <a:ext cx="2128157" cy="492558"/>
          </a:xfr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63042" y="4925112"/>
            <a:ext cx="2128157" cy="78999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02C0D4-D9C4-F547-B996-38177302A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7054" y="4359309"/>
            <a:ext cx="2129245" cy="492558"/>
          </a:xfr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67054" y="4925112"/>
            <a:ext cx="2129245" cy="78999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851A3FD-B717-4588-9809-4FFAC5FF47A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10C66-2FF2-41F8-98FA-BE498336964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42F3846-3FA1-A704-DD1C-4F4EDD8FE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2066DD-D313-D148-89C7-338EB873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2713"/>
            <a:ext cx="4572001" cy="22860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810201"/>
            <a:ext cx="4572001" cy="256032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4536E-AD08-4371-85E9-A816C30B6A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85929-1018-4370-A170-074C414B228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0A569B5-C0E0-B13D-812D-D5FA97791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80543"/>
          </a:xfrm>
        </p:spPr>
        <p:txBody>
          <a:bodyPr tIns="1828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9D7C82-45D3-B736-77A1-FE479F1AD0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8" cy="6858000"/>
          </a:xfrm>
          <a:custGeom>
            <a:avLst/>
            <a:gdLst>
              <a:gd name="connsiteX0" fmla="*/ 7154721 w 12191998"/>
              <a:gd name="connsiteY0" fmla="*/ 3951843 h 6858000"/>
              <a:gd name="connsiteX1" fmla="*/ 7154721 w 12191998"/>
              <a:gd name="connsiteY1" fmla="*/ 4052427 h 6858000"/>
              <a:gd name="connsiteX2" fmla="*/ 9288321 w 12191998"/>
              <a:gd name="connsiteY2" fmla="*/ 4052427 h 6858000"/>
              <a:gd name="connsiteX3" fmla="*/ 9288321 w 12191998"/>
              <a:gd name="connsiteY3" fmla="*/ 3951843 h 6858000"/>
              <a:gd name="connsiteX4" fmla="*/ 0 w 12191998"/>
              <a:gd name="connsiteY4" fmla="*/ 0 h 6858000"/>
              <a:gd name="connsiteX5" fmla="*/ 12191998 w 12191998"/>
              <a:gd name="connsiteY5" fmla="*/ 0 h 6858000"/>
              <a:gd name="connsiteX6" fmla="*/ 12191998 w 12191998"/>
              <a:gd name="connsiteY6" fmla="*/ 6858000 h 6858000"/>
              <a:gd name="connsiteX7" fmla="*/ 0 w 12191998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8" h="6858000">
                <a:moveTo>
                  <a:pt x="7154721" y="3951843"/>
                </a:moveTo>
                <a:lnTo>
                  <a:pt x="7154721" y="4052427"/>
                </a:lnTo>
                <a:lnTo>
                  <a:pt x="9288321" y="4052427"/>
                </a:lnTo>
                <a:lnTo>
                  <a:pt x="9288321" y="3951843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tIns="27432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CB38BE-0FF2-694C-AA3C-D73DBF7C3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943" y="2092817"/>
            <a:ext cx="4941477" cy="156348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1ED476-3924-7E52-1A9D-0E0424695B24}"/>
              </a:ext>
            </a:extLst>
          </p:cNvPr>
          <p:cNvSpPr/>
          <p:nvPr userDrawn="1"/>
        </p:nvSpPr>
        <p:spPr>
          <a:xfrm>
            <a:off x="7154721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201169"/>
            <a:ext cx="10352810" cy="128875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952500" y="1939108"/>
            <a:ext cx="10352810" cy="411070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2CC63-C628-4456-9B92-DA4E670BAC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78EA5-216B-41F7-80D1-9ED07FFDB6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F404C10-744B-3A30-6A97-DEF88914A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210313"/>
            <a:ext cx="10287000" cy="127961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52500" y="2209800"/>
            <a:ext cx="10287000" cy="259310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F7A1E-B7E2-4E9C-A66C-BCE08900C5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2D896-6ACC-40D7-8D8B-F9AF3E7DE1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7A8E389-98BB-3534-2651-FEF1E37EB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ACB4ADD-D9F4-984E-B29D-A2CF6D19E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Shape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A90A7-BF26-684E-8C8B-638053DA1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00165"/>
          </a:xfrm>
          <a:prstGeom prst="rect">
            <a:avLst/>
          </a:prstGeom>
          <a:noFill/>
        </p:spPr>
        <p:txBody>
          <a:bodyPr wrap="square" tIns="457200" bIns="0" rtlCol="0" anchor="b" anchorCtr="0">
            <a:noAutofit/>
          </a:bodyPr>
          <a:lstStyle/>
          <a:p>
            <a:r>
              <a:rPr lang="en-US" sz="20000" b="1" dirty="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9F21A-75CF-6045-8FA1-C4F4E21B6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D0B2D5-B3C2-D847-A220-86CB6A37E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Shape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2" y="151023"/>
            <a:ext cx="10275477" cy="133890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500" y="4823250"/>
            <a:ext cx="2133600" cy="456961"/>
          </a:xfr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2500" y="5339379"/>
            <a:ext cx="2133600" cy="76558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63042" y="4823250"/>
            <a:ext cx="2128157" cy="456961"/>
          </a:xfr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63042" y="5339379"/>
            <a:ext cx="2128157" cy="76558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67054" y="4823250"/>
            <a:ext cx="2129245" cy="456961"/>
          </a:xfr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7054" y="5339379"/>
            <a:ext cx="2129245" cy="76558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0254" y="4823250"/>
            <a:ext cx="2129245" cy="456961"/>
          </a:xfr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254" y="5339379"/>
            <a:ext cx="2129245" cy="76558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A1C65-B00C-4CA4-83B6-3DFA3DF9629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0184F-2619-4333-B49F-C7ACE8B2C3A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BEE3F78-D640-47E6-F461-2CF028EAD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205247"/>
            <a:ext cx="10169152" cy="128467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0046AF-E5BF-854D-9986-7C3019770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CA14A6-0144-BC49-A8D4-C979D1325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82FC2-A135-5743-B9C0-6AC7225B4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43222-5868-0247-838F-58F4F6C8E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340167"/>
            <a:ext cx="2133600" cy="546841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6" name="Text Placeholder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646184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473389"/>
            <a:ext cx="2133600" cy="546841"/>
          </a:xfrm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60433"/>
            <a:ext cx="2133600" cy="646184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340167"/>
            <a:ext cx="2133600" cy="546841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646184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7" name="Text Placeholder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473389"/>
            <a:ext cx="2133600" cy="546841"/>
          </a:xfrm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6" name="Text Placeholder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60433"/>
            <a:ext cx="2133600" cy="646184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2724A-BCA1-604F-9D18-BF0574640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923D7D1-A9CC-C34C-86FF-43B5C8978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19FF13-13AB-3448-B24E-58E18B3CE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F8F982-870E-AE44-B0D3-B3313BC48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9A137-DB5E-9C40-8C0A-ED6072120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3856F-38E9-4BBF-93D8-0F8AC2E0E6C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6DFD4-BF8C-4939-874D-85B7DF956768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3C5F14A-2BEC-E1E4-FD6D-B181CD598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DEF3328-825B-3946-8472-DB93D6A3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141475"/>
            <a:ext cx="10163506" cy="134845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4023" y="2185427"/>
            <a:ext cx="4827178" cy="5846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51C063-0222-064B-8A2E-485FE9EAC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362700" y="2185427"/>
            <a:ext cx="4764829" cy="5846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F140D-2B48-4E31-9E97-08B68ABBAC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60DA6-6E6F-47BF-9680-1B030F525D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0FEE6CB-7A68-C30C-38DD-5D9B336CEAD4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68B08E5-2F7C-7749-8BDF-386EAF974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119553"/>
            <a:ext cx="10259471" cy="13703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52500" y="2143615"/>
            <a:ext cx="3036477" cy="5786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C4CE5-5F02-B143-8FD1-1B235D27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69372" y="2143615"/>
            <a:ext cx="3036477" cy="5786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9A8C14-DB28-F34E-8098-168D4C75A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187017" y="2143615"/>
            <a:ext cx="3036477" cy="5786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139CE-3E4D-4224-B157-2D29EC10FE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9B87D-E8CF-49AE-9326-2FEED2392F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1E69DAA-34F6-FC8E-3187-DACC516CCFB9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A1EE0-4011-3749-B01C-FC489EEDF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160385"/>
            <a:ext cx="10274324" cy="132954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2500" y="2303930"/>
            <a:ext cx="4838700" cy="315915"/>
          </a:xfrm>
        </p:spPr>
        <p:txBody>
          <a:bodyPr anchor="ctr" anchorCtr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00" y="2656903"/>
            <a:ext cx="4838700" cy="7053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3655" y="3488872"/>
            <a:ext cx="4838700" cy="315915"/>
          </a:xfrm>
        </p:spPr>
        <p:txBody>
          <a:bodyPr anchor="ctr" anchorCtr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3655" y="3841846"/>
            <a:ext cx="4838700" cy="77007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4664927"/>
            <a:ext cx="4838700" cy="315915"/>
          </a:xfrm>
        </p:spPr>
        <p:txBody>
          <a:bodyPr anchor="ctr" anchorCtr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2500" y="5017901"/>
            <a:ext cx="4838700" cy="90834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9647" y="2303930"/>
            <a:ext cx="4838700" cy="315915"/>
          </a:xfrm>
        </p:spPr>
        <p:txBody>
          <a:bodyPr anchor="ctr" anchorCtr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9647" y="2656903"/>
            <a:ext cx="4838700" cy="7053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99647" y="3488872"/>
            <a:ext cx="4838700" cy="315915"/>
          </a:xfrm>
        </p:spPr>
        <p:txBody>
          <a:bodyPr anchor="ctr" anchorCtr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47" y="3841846"/>
            <a:ext cx="4838700" cy="90834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6E9EA-D950-424A-BC92-F6794D6E5D6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F2453-9E16-47FE-A8ED-4661246DE59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51AB775-D834-FE78-61E7-1D421831F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FEF81ED-50DF-3946-87D9-407C13C3C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6100" y="398440"/>
            <a:ext cx="4903377" cy="238608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96100" y="3591098"/>
            <a:ext cx="4903377" cy="1506973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5C3BF3-A164-DD48-BD02-4587489DA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96100" y="5155853"/>
            <a:ext cx="4914900" cy="806659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September 3, 20XX</a:t>
            </a:r>
            <a:endParaRPr lang="en-US" dirty="0">
              <a:latin typeface="+mn-lt"/>
            </a:endParaRP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758752"/>
            <a:ext cx="5491571" cy="2871449"/>
          </a:xfrm>
        </p:spPr>
        <p:txBody>
          <a:bodyPr/>
          <a:lstStyle/>
          <a:p>
            <a:r>
              <a:rPr lang="en-IN" dirty="0"/>
              <a:t>Sprint Review and Retrospective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1606189"/>
          </a:xfrm>
        </p:spPr>
        <p:txBody>
          <a:bodyPr>
            <a:normAutofit/>
          </a:bodyPr>
          <a:lstStyle/>
          <a:p>
            <a:r>
              <a:rPr lang="en-US" dirty="0"/>
              <a:t>Dominic Caulfield-Duverger</a:t>
            </a:r>
          </a:p>
          <a:p>
            <a:r>
              <a:rPr lang="en-US" dirty="0"/>
              <a:t>CS-250 Software </a:t>
            </a:r>
            <a:r>
              <a:rPr lang="en-US"/>
              <a:t>Development Lifecycle</a:t>
            </a:r>
            <a:endParaRPr lang="en-US" dirty="0"/>
          </a:p>
          <a:p>
            <a:r>
              <a:rPr lang="en-US" dirty="0"/>
              <a:t>October 21, 2023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9620-6CCC-A34D-9D45-D6B57F800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in Agile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CA166B6-6C93-A516-6DD4-DAF0B9BF12F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t="4583" b="4583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55189-E7B2-3A4A-99EE-997592791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Product Owner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3C602-BA59-1744-B258-B489E00A3E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39379"/>
            <a:ext cx="2133600" cy="12108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Customer representative</a:t>
            </a:r>
          </a:p>
          <a:p>
            <a:pPr algn="ctr"/>
            <a:r>
              <a:rPr lang="en-US" dirty="0"/>
              <a:t>Sets the priority</a:t>
            </a:r>
          </a:p>
          <a:p>
            <a:pPr algn="ctr"/>
            <a:r>
              <a:rPr lang="en-US" dirty="0"/>
              <a:t>Determines product readiness</a:t>
            </a:r>
          </a:p>
          <a:p>
            <a:pPr algn="ctr"/>
            <a:endParaRPr lang="en-US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ACB3C411-A80A-36CE-CDA4-A558F119190E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rcRect t="3543" b="3543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4284CF-DF13-E947-ADA5-0FD9AAC03C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Scrum Master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FEC49-A0F0-FB4E-9A87-B2EF113647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39378"/>
            <a:ext cx="2128157" cy="121088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Servant leader</a:t>
            </a:r>
          </a:p>
          <a:p>
            <a:pPr algn="ctr"/>
            <a:r>
              <a:rPr lang="en-US" dirty="0"/>
              <a:t>Organizes the team</a:t>
            </a:r>
          </a:p>
          <a:p>
            <a:pPr algn="ctr"/>
            <a:r>
              <a:rPr lang="en-US" dirty="0"/>
              <a:t>Handles interruptions or blockages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276C37FA-A87A-BA49-D575-77FA5E0401E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/>
          <a:srcRect t="602" b="602"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396C20-F6DF-C940-BE16-6E008BFF9CB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IN" dirty="0"/>
              <a:t>Developer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355B93-F7B4-8649-8BBF-819B529D7E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39379"/>
            <a:ext cx="2129245" cy="1210888"/>
          </a:xfrm>
        </p:spPr>
        <p:txBody>
          <a:bodyPr>
            <a:normAutofit fontScale="92500"/>
          </a:bodyPr>
          <a:lstStyle/>
          <a:p>
            <a:r>
              <a:rPr lang="en-US" dirty="0"/>
              <a:t>Creates maintainable software</a:t>
            </a:r>
          </a:p>
          <a:p>
            <a:r>
              <a:rPr lang="en-US" dirty="0"/>
              <a:t>Delivers new features</a:t>
            </a:r>
          </a:p>
          <a:p>
            <a:r>
              <a:rPr lang="en-US" dirty="0"/>
              <a:t>Defines requirements through interacting with users</a:t>
            </a:r>
          </a:p>
          <a:p>
            <a:endParaRPr lang="en-US" dirty="0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ACF830D0-46A8-7FEA-D62C-1E71799943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5"/>
          <a:srcRect l="567" r="567"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F2A68F-70C1-7F46-9A1C-586701744F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IN" dirty="0"/>
              <a:t>Tester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554997-3B04-634C-A36E-69B0311331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39378"/>
            <a:ext cx="2129245" cy="12108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Automates testing via code</a:t>
            </a:r>
          </a:p>
          <a:p>
            <a:r>
              <a:rPr lang="en-US" dirty="0"/>
              <a:t>Performs testing to a high degree</a:t>
            </a:r>
          </a:p>
          <a:p>
            <a:r>
              <a:rPr lang="en-US" dirty="0"/>
              <a:t>Works with team members to resolve issues	</a:t>
            </a:r>
          </a:p>
        </p:txBody>
      </p:sp>
    </p:spTree>
    <p:extLst>
      <p:ext uri="{BB962C8B-B14F-4D97-AF65-F5344CB8AC3E}">
        <p14:creationId xmlns:p14="http://schemas.microsoft.com/office/powerpoint/2010/main" val="2509101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39315B-8AAE-A946-ABBF-894F2E4B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Phases of the Agile Process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C33D09D-6D7F-966D-4DC2-635F55E5C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1. Product Backlog Creation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5D42124-202B-2E2D-D213-A710DEA0EC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575280"/>
            <a:ext cx="2133600" cy="14164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List of items for the Scrum team</a:t>
            </a:r>
          </a:p>
          <a:p>
            <a:r>
              <a:rPr lang="en-US" dirty="0"/>
              <a:t>A document designed to be updated and items to be prioritized as needed</a:t>
            </a:r>
          </a:p>
          <a:p>
            <a:r>
              <a:rPr lang="en-US" dirty="0"/>
              <a:t>Allows items to be quickly identified as dependent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73591F-BD0A-3D45-D527-B5C2F41C6D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2. Sprint Planning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7CABA6-5FA3-FC93-95CB-965355A29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656648"/>
            <a:ext cx="2128157" cy="1335058"/>
          </a:xfrm>
        </p:spPr>
        <p:txBody>
          <a:bodyPr>
            <a:normAutofit fontScale="92500"/>
          </a:bodyPr>
          <a:lstStyle/>
          <a:p>
            <a:r>
              <a:rPr lang="en-US" dirty="0"/>
              <a:t>Determine the sprint timeline</a:t>
            </a:r>
          </a:p>
          <a:p>
            <a:r>
              <a:rPr lang="en-US" dirty="0"/>
              <a:t>Determine the development team</a:t>
            </a:r>
          </a:p>
          <a:p>
            <a:r>
              <a:rPr lang="en-US" dirty="0"/>
              <a:t>Determine the goal of the sprint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F42FE99-1835-ED6A-FDEE-8628B45F98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IN" dirty="0"/>
              <a:t>3. Sprint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155FBDE-9698-E37E-8F74-36765CE61A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4925112"/>
            <a:ext cx="2133600" cy="1633950"/>
          </a:xfrm>
        </p:spPr>
        <p:txBody>
          <a:bodyPr/>
          <a:lstStyle/>
          <a:p>
            <a:r>
              <a:rPr lang="en-US" dirty="0"/>
              <a:t>Daily standups occur where the team meets</a:t>
            </a:r>
          </a:p>
          <a:p>
            <a:r>
              <a:rPr lang="en-US" dirty="0"/>
              <a:t>Create deliverables and test them</a:t>
            </a:r>
          </a:p>
          <a:p>
            <a:r>
              <a:rPr lang="en-US" dirty="0"/>
              <a:t>Product backlog gets continually groomed</a:t>
            </a:r>
          </a:p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097A47-4EBB-136A-8FD3-876CED1E709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IN" dirty="0"/>
              <a:t>4. Sprint Review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2964B0D-FB07-522C-8E12-3227E202BD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4925111"/>
            <a:ext cx="2128157" cy="163394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Celebrate the sprint accomplishments</a:t>
            </a:r>
          </a:p>
          <a:p>
            <a:r>
              <a:rPr lang="en-US" dirty="0"/>
              <a:t>Give feedback to the team</a:t>
            </a:r>
          </a:p>
          <a:p>
            <a:r>
              <a:rPr lang="en-US" dirty="0"/>
              <a:t>Demonstrate the software to the team</a:t>
            </a:r>
          </a:p>
          <a:p>
            <a:r>
              <a:rPr lang="en-US" dirty="0"/>
              <a:t>Answer questions from the team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353FB67-F2EF-6FBD-29F3-9CECCB3AFFE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IN" dirty="0"/>
              <a:t>5. Retrospective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D8AAF1F-9177-7983-0CC5-0DDAFB75BC2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4925112"/>
            <a:ext cx="2129245" cy="1633948"/>
          </a:xfrm>
        </p:spPr>
        <p:txBody>
          <a:bodyPr/>
          <a:lstStyle/>
          <a:p>
            <a:r>
              <a:rPr lang="en-US" dirty="0"/>
              <a:t>Reflect and improve skills</a:t>
            </a:r>
          </a:p>
          <a:p>
            <a:r>
              <a:rPr lang="en-US" dirty="0"/>
              <a:t>Communicate what needs improvement and what worked well</a:t>
            </a:r>
          </a:p>
          <a:p>
            <a:r>
              <a:rPr lang="en-US" dirty="0"/>
              <a:t>Create a plan together that improves the team</a:t>
            </a:r>
          </a:p>
        </p:txBody>
      </p:sp>
    </p:spTree>
    <p:extLst>
      <p:ext uri="{BB962C8B-B14F-4D97-AF65-F5344CB8AC3E}">
        <p14:creationId xmlns:p14="http://schemas.microsoft.com/office/powerpoint/2010/main" val="252153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30B80DCC-DB68-5F3D-86DD-A5CBBA0C3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Phases of the Waterfall Model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EDF4D06-74EB-E510-62C2-14C7E5B4A3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955" y="2091672"/>
            <a:ext cx="2133600" cy="546841"/>
          </a:xfrm>
        </p:spPr>
        <p:txBody>
          <a:bodyPr/>
          <a:lstStyle/>
          <a:p>
            <a:r>
              <a:rPr lang="en-IN" dirty="0"/>
              <a:t>Feasibility Study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925F854-6CFE-60C9-B53E-AAB4C1943C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6955" y="2658565"/>
            <a:ext cx="2133600" cy="1177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Determine project feasibility</a:t>
            </a:r>
          </a:p>
          <a:p>
            <a:r>
              <a:rPr lang="en-US" dirty="0"/>
              <a:t>Determine strengths and weaknesses of the project</a:t>
            </a:r>
          </a:p>
          <a:p>
            <a:r>
              <a:rPr lang="en-US" dirty="0"/>
              <a:t>Document required specifications of the project</a:t>
            </a:r>
          </a:p>
          <a:p>
            <a:r>
              <a:rPr lang="en-US" dirty="0"/>
              <a:t>Layout strategies for the project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A8DB6C7-4EB5-F1F1-F792-09F6A8CA33A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97799" y="4161409"/>
            <a:ext cx="2133600" cy="546841"/>
          </a:xfrm>
        </p:spPr>
        <p:txBody>
          <a:bodyPr/>
          <a:lstStyle/>
          <a:p>
            <a:r>
              <a:rPr lang="en-IN" dirty="0"/>
              <a:t>Requirements and Analysis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3BC4D09-16B7-1785-D052-7115C6B1627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97799" y="4708250"/>
            <a:ext cx="2133600" cy="9563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Align feasibility study with customer’s expectations</a:t>
            </a:r>
            <a:br>
              <a:rPr lang="en-US" dirty="0"/>
            </a:br>
            <a:r>
              <a:rPr lang="en-US" dirty="0"/>
              <a:t>Layout the blueprint of the project</a:t>
            </a:r>
            <a:br>
              <a:rPr lang="en-US" dirty="0"/>
            </a:br>
            <a:r>
              <a:rPr lang="en-US" dirty="0"/>
              <a:t>Understand customer’s requirements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C61BB58-F418-49E5-E118-3A5B42D2957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38143" y="2091671"/>
            <a:ext cx="2133600" cy="546841"/>
          </a:xfrm>
        </p:spPr>
        <p:txBody>
          <a:bodyPr/>
          <a:lstStyle/>
          <a:p>
            <a:r>
              <a:rPr lang="en-IN" dirty="0"/>
              <a:t>Design, Coding, then Testing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56C1729-3DE7-2C38-40C2-F72430719D6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8143" y="2658565"/>
            <a:ext cx="2133600" cy="1177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Take the requirements and turn them into a reference that can be used for development</a:t>
            </a:r>
            <a:br>
              <a:rPr lang="en-US" dirty="0"/>
            </a:br>
            <a:r>
              <a:rPr lang="en-US" dirty="0"/>
              <a:t>Add source code and test to ensure that it is working properly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6667796-30C7-8BDF-A937-21D0D689C24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01711" y="4062046"/>
            <a:ext cx="2133600" cy="483622"/>
          </a:xfrm>
        </p:spPr>
        <p:txBody>
          <a:bodyPr/>
          <a:lstStyle/>
          <a:p>
            <a:r>
              <a:rPr lang="en-IN" dirty="0"/>
              <a:t>Deployment and</a:t>
            </a:r>
          </a:p>
          <a:p>
            <a:r>
              <a:rPr lang="en-IN" dirty="0"/>
              <a:t>Maintenance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14BFC3B-04BC-3EDC-4631-9861905AF88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001711" y="4708250"/>
            <a:ext cx="2133600" cy="998367"/>
          </a:xfrm>
        </p:spPr>
        <p:txBody>
          <a:bodyPr/>
          <a:lstStyle/>
          <a:p>
            <a:r>
              <a:rPr lang="en-US" dirty="0"/>
              <a:t>Fix errors not found during testing</a:t>
            </a:r>
          </a:p>
          <a:p>
            <a:r>
              <a:rPr lang="en-US" dirty="0"/>
              <a:t>Add functionality as customer requires</a:t>
            </a:r>
          </a:p>
        </p:txBody>
      </p:sp>
    </p:spTree>
    <p:extLst>
      <p:ext uri="{BB962C8B-B14F-4D97-AF65-F5344CB8AC3E}">
        <p14:creationId xmlns:p14="http://schemas.microsoft.com/office/powerpoint/2010/main" val="364742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1EF9C57-E2CD-5623-180C-94E493F2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vs Waterfall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226B26-79B5-B940-0095-6C0251F65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Agile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164C3B5-42A6-BDE5-91D8-CEF1C604C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3653740"/>
          </a:xfrm>
        </p:spPr>
        <p:txBody>
          <a:bodyPr/>
          <a:lstStyle/>
          <a:p>
            <a:r>
              <a:rPr lang="en-US" dirty="0"/>
              <a:t>Agile is a flexible method allowing a team to step back or step forward as needed</a:t>
            </a:r>
          </a:p>
          <a:p>
            <a:r>
              <a:rPr lang="en-US" dirty="0"/>
              <a:t>Allows the team to work piece by piece as needed, as each part is small and can be completed in a 2 or so day period</a:t>
            </a:r>
          </a:p>
          <a:p>
            <a:r>
              <a:rPr lang="en-US" dirty="0"/>
              <a:t>Development teams consist of both testers and developers to quickly resolve errors</a:t>
            </a:r>
          </a:p>
          <a:p>
            <a:r>
              <a:rPr lang="en-US" dirty="0"/>
              <a:t>Comprehensive documentation is not as important as speedy deliveries</a:t>
            </a:r>
          </a:p>
          <a:p>
            <a:r>
              <a:rPr lang="en-US" dirty="0"/>
              <a:t>Teams must stay consistent</a:t>
            </a:r>
          </a:p>
          <a:p>
            <a:r>
              <a:rPr lang="en-US" dirty="0"/>
              <a:t>Difficult to transition to and difficult to scale exponentially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C36A8A-CCD2-D92E-B3E9-88DC81357B5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dirty="0"/>
              <a:t>Waterfall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0C06230-203C-5025-02CE-2DAE4E578E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5"/>
            <a:ext cx="4756241" cy="3537993"/>
          </a:xfrm>
        </p:spPr>
        <p:txBody>
          <a:bodyPr/>
          <a:lstStyle/>
          <a:p>
            <a:r>
              <a:rPr lang="en-US" dirty="0"/>
              <a:t>Easy to use and simple to understand</a:t>
            </a:r>
          </a:p>
          <a:p>
            <a:r>
              <a:rPr lang="en-US" dirty="0"/>
              <a:t>The project scope is defined clearly</a:t>
            </a:r>
          </a:p>
          <a:p>
            <a:r>
              <a:rPr lang="en-US" dirty="0"/>
              <a:t>When requirements are clearly laid out it works well</a:t>
            </a:r>
          </a:p>
          <a:p>
            <a:r>
              <a:rPr lang="en-US" dirty="0"/>
              <a:t>Teams can be changed as needed</a:t>
            </a:r>
          </a:p>
          <a:p>
            <a:r>
              <a:rPr lang="en-US" dirty="0"/>
              <a:t>Phases can’t overlap</a:t>
            </a:r>
          </a:p>
          <a:p>
            <a:r>
              <a:rPr lang="en-US" dirty="0"/>
              <a:t>Requests to change the project can’t be done until the project is complete</a:t>
            </a:r>
          </a:p>
          <a:p>
            <a:r>
              <a:rPr lang="en-US" dirty="0"/>
              <a:t>Lacks a timeline for error correction mid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7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100" y="398440"/>
            <a:ext cx="4903377" cy="2386081"/>
          </a:xfrm>
        </p:spPr>
        <p:txBody>
          <a:bodyPr/>
          <a:lstStyle/>
          <a:p>
            <a:r>
              <a:rPr lang="en-US" dirty="0"/>
              <a:t>Citations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0F25866-5DB1-334A-8037-692579FBD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6100" y="3591098"/>
            <a:ext cx="4903377" cy="2282164"/>
          </a:xfrm>
        </p:spPr>
        <p:txBody>
          <a:bodyPr>
            <a:normAutofit fontScale="92500"/>
          </a:bodyPr>
          <a:lstStyle/>
          <a:p>
            <a:r>
              <a:rPr lang="en-US" dirty="0" err="1">
                <a:effectLst/>
              </a:rPr>
              <a:t>Lutkevich</a:t>
            </a:r>
            <a:r>
              <a:rPr lang="en-US" dirty="0">
                <a:effectLst/>
              </a:rPr>
              <a:t>, B., &amp; Lewis, S. (2022, November 14). </a:t>
            </a:r>
            <a:r>
              <a:rPr lang="en-US" i="1" dirty="0">
                <a:effectLst/>
              </a:rPr>
              <a:t>What is the waterfall model? - definition and guide</a:t>
            </a:r>
            <a:r>
              <a:rPr lang="en-US" dirty="0">
                <a:effectLst/>
              </a:rPr>
              <a:t>. Software Quality. https://www.techtarget.com/searchsoftwarequality/definition/waterfall-model </a:t>
            </a:r>
          </a:p>
          <a:p>
            <a:r>
              <a:rPr lang="en-US" dirty="0" err="1">
                <a:effectLst/>
              </a:rPr>
              <a:t>Mijacobs</a:t>
            </a:r>
            <a:r>
              <a:rPr lang="en-US" dirty="0">
                <a:effectLst/>
              </a:rPr>
              <a:t>. (n.d.). </a:t>
            </a:r>
            <a:r>
              <a:rPr lang="en-US" i="1" dirty="0">
                <a:effectLst/>
              </a:rPr>
              <a:t>What is agile? - azure DevOps</a:t>
            </a:r>
            <a:r>
              <a:rPr lang="en-US" dirty="0">
                <a:effectLst/>
              </a:rPr>
              <a:t>. Azure DevOps | Microsoft Learn. https://learn.microsoft.com/en-us/devops/plan/what-is-agile </a:t>
            </a:r>
          </a:p>
          <a:p>
            <a:r>
              <a:rPr lang="en-US" i="1" dirty="0">
                <a:effectLst/>
              </a:rPr>
              <a:t>What is Scrum?</a:t>
            </a:r>
            <a:r>
              <a:rPr lang="en-US" dirty="0">
                <a:effectLst/>
              </a:rPr>
              <a:t>. Scrum.org. (n.d.). https://www.scrum.org/learning-series/what-is-scrum </a:t>
            </a:r>
          </a:p>
          <a:p>
            <a:endParaRPr lang="en-US" dirty="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Placeholder 12" descr="Person running up stairs">
            <a:extLst>
              <a:ext uri="{FF2B5EF4-FFF2-40B4-BE49-F238E27FC236}">
                <a16:creationId xmlns:a16="http://schemas.microsoft.com/office/drawing/2014/main" id="{EC944911-7CDD-41CC-A7F0-5B0CF85D545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</p:spPr>
      </p:pic>
    </p:spTree>
    <p:extLst>
      <p:ext uri="{BB962C8B-B14F-4D97-AF65-F5344CB8AC3E}">
        <p14:creationId xmlns:p14="http://schemas.microsoft.com/office/powerpoint/2010/main" val="23366773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annual presentation_Win32_EF_V7" id="{21D76CCA-3643-4633-95C9-29486A1DA50B}" vid="{3EDD3486-FF44-4579-8B83-091A40DEEF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24d7d3c-e8a3-4a5b-80ad-572a218f7f0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EE72ACFDD2E449E4FA74EE5222051" ma:contentTypeVersion="5" ma:contentTypeDescription="Create a new document." ma:contentTypeScope="" ma:versionID="ebb36c6f095e60798618190a383e571c">
  <xsd:schema xmlns:xsd="http://www.w3.org/2001/XMLSchema" xmlns:xs="http://www.w3.org/2001/XMLSchema" xmlns:p="http://schemas.microsoft.com/office/2006/metadata/properties" xmlns:ns3="824d7d3c-e8a3-4a5b-80ad-572a218f7f00" targetNamespace="http://schemas.microsoft.com/office/2006/metadata/properties" ma:root="true" ma:fieldsID="56f2278d740c45f2468c16c70a8e618b" ns3:_="">
    <xsd:import namespace="824d7d3c-e8a3-4a5b-80ad-572a218f7f0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d7d3c-e8a3-4a5b-80ad-572a218f7f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93354B-8927-46EE-B294-4D51952A09C2}">
  <ds:schemaRefs>
    <ds:schemaRef ds:uri="http://purl.org/dc/elements/1.1/"/>
    <ds:schemaRef ds:uri="824d7d3c-e8a3-4a5b-80ad-572a218f7f00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D5B334C4-64A2-4673-803C-35178659DD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E97C05-8C73-4E9A-A7CC-372416FCDE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4d7d3c-e8a3-4a5b-80ad-572a218f7f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517</TotalTime>
  <Words>529</Words>
  <Application>Microsoft Office PowerPoint</Application>
  <PresentationFormat>Widescreen</PresentationFormat>
  <Paragraphs>81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Franklin Gothic Book</vt:lpstr>
      <vt:lpstr>Franklin Gothic Demi</vt:lpstr>
      <vt:lpstr>Wingdings</vt:lpstr>
      <vt:lpstr>Custom</vt:lpstr>
      <vt:lpstr>Sprint Review and Retrospective</vt:lpstr>
      <vt:lpstr>Roles in Agile</vt:lpstr>
      <vt:lpstr>Phases of the Agile Process</vt:lpstr>
      <vt:lpstr>Phases of the Waterfall Model</vt:lpstr>
      <vt:lpstr>Agile vs Waterfall</vt:lpstr>
      <vt:lpstr>Citations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 and Retrospective</dc:title>
  <dc:creator>Caulfield-Duverger, Dominic</dc:creator>
  <cp:lastModifiedBy>Caulfield-Duverger, Dominic</cp:lastModifiedBy>
  <cp:revision>2</cp:revision>
  <dcterms:created xsi:type="dcterms:W3CDTF">2023-10-22T02:06:38Z</dcterms:created>
  <dcterms:modified xsi:type="dcterms:W3CDTF">2023-10-23T04:15:25Z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0x010100FA8EE72ACFDD2E449E4FA74EE5222051</vt:lpwstr>
  </property>
  <property fmtid="{D5CDD505-2E9C-101B-9397-08002B2CF9AE}" pid="3" name="MediaServiceImageTags">
    <vt:lpwstr/>
  </property>
</Properties>
</file>